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 flipH="1">
            <a:off x="914399" y="0"/>
            <a:ext cx="2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 flipH="1">
            <a:off x="1828799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 flipH="1">
            <a:off x="2743199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 flipH="1">
            <a:off x="3657600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 flipH="1">
            <a:off x="4572000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 flipH="1">
            <a:off x="5486400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 flipH="1">
            <a:off x="6400800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 flipH="1">
            <a:off x="7315199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 flipH="1">
            <a:off x="8229599" y="0"/>
            <a:ext cx="1" cy="514350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2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ln w="635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457200" y="1376680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400" sz="900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DSA GROUP PROJECT</a:t>
            </a:r>
          </a:p>
        </p:txBody>
      </p:sp>
      <p:sp>
        <p:nvSpPr>
          <p:cNvPr id="35" name="Text 15"/>
          <p:cNvSpPr txBox="1"/>
          <p:nvPr/>
        </p:nvSpPr>
        <p:spPr>
          <a:xfrm>
            <a:off x="457200" y="1529079"/>
            <a:ext cx="7315200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SMART TRAFFIC</a:t>
            </a:r>
          </a:p>
        </p:txBody>
      </p:sp>
      <p:sp>
        <p:nvSpPr>
          <p:cNvPr id="36" name="Text 16"/>
          <p:cNvSpPr txBox="1"/>
          <p:nvPr/>
        </p:nvSpPr>
        <p:spPr>
          <a:xfrm>
            <a:off x="457200" y="2319020"/>
            <a:ext cx="731520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SURVEILLANCE SYSTEM</a:t>
            </a:r>
          </a:p>
        </p:txBody>
      </p:sp>
      <p:sp>
        <p:nvSpPr>
          <p:cNvPr id="37" name="Text 17"/>
          <p:cNvSpPr txBox="1"/>
          <p:nvPr/>
        </p:nvSpPr>
        <p:spPr>
          <a:xfrm>
            <a:off x="457200" y="3201846"/>
            <a:ext cx="7772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A96"/>
                </a:solidFill>
              </a:defRPr>
            </a:lvl1pPr>
          </a:lstStyle>
          <a:p>
            <a:pPr/>
            <a:r>
              <a:t>Automated Red-Light Violation Detection  ·  License Plate Recognition  ·  Real-Time Analysis</a:t>
            </a:r>
          </a:p>
        </p:txBody>
      </p:sp>
      <p:sp>
        <p:nvSpPr>
          <p:cNvPr id="50" name="Shape 30"/>
          <p:cNvSpPr/>
          <p:nvPr/>
        </p:nvSpPr>
        <p:spPr>
          <a:xfrm>
            <a:off x="8412480" y="274320"/>
            <a:ext cx="457201" cy="1"/>
          </a:xfrm>
          <a:prstGeom prst="line">
            <a:avLst/>
          </a:prstGeom>
          <a:ln w="254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31"/>
          <p:cNvSpPr/>
          <p:nvPr/>
        </p:nvSpPr>
        <p:spPr>
          <a:xfrm>
            <a:off x="8869680" y="274320"/>
            <a:ext cx="1" cy="457201"/>
          </a:xfrm>
          <a:prstGeom prst="line">
            <a:avLst/>
          </a:prstGeom>
          <a:ln w="254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32"/>
          <p:cNvSpPr/>
          <p:nvPr/>
        </p:nvSpPr>
        <p:spPr>
          <a:xfrm>
            <a:off x="8412480" y="4846320"/>
            <a:ext cx="457201" cy="1"/>
          </a:xfrm>
          <a:prstGeom prst="line">
            <a:avLst/>
          </a:prstGeom>
          <a:ln w="254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33"/>
          <p:cNvSpPr/>
          <p:nvPr/>
        </p:nvSpPr>
        <p:spPr>
          <a:xfrm>
            <a:off x="8869680" y="4389120"/>
            <a:ext cx="1" cy="457201"/>
          </a:xfrm>
          <a:prstGeom prst="line">
            <a:avLst/>
          </a:prstGeom>
          <a:ln w="254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"/>
          <p:cNvSpPr txBox="1"/>
          <p:nvPr/>
        </p:nvSpPr>
        <p:spPr>
          <a:xfrm>
            <a:off x="411480" y="387350"/>
            <a:ext cx="8229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1000">
                <a:solidFill>
                  <a:srgbClr val="5A7A9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  /  PROBLEM &amp; OBJECTIVE</a:t>
            </a:r>
          </a:p>
        </p:txBody>
      </p:sp>
      <p:sp>
        <p:nvSpPr>
          <p:cNvPr id="57" name="Text 2"/>
          <p:cNvSpPr txBox="1"/>
          <p:nvPr/>
        </p:nvSpPr>
        <p:spPr>
          <a:xfrm>
            <a:off x="411480" y="586739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Why This System?</a:t>
            </a:r>
          </a:p>
        </p:txBody>
      </p:sp>
      <p:sp>
        <p:nvSpPr>
          <p:cNvPr id="58" name="Shape 3"/>
          <p:cNvSpPr/>
          <p:nvPr/>
        </p:nvSpPr>
        <p:spPr>
          <a:xfrm>
            <a:off x="411479" y="1325879"/>
            <a:ext cx="3931922" cy="329184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4"/>
          <p:cNvSpPr/>
          <p:nvPr/>
        </p:nvSpPr>
        <p:spPr>
          <a:xfrm>
            <a:off x="411479" y="1325880"/>
            <a:ext cx="3931922" cy="347473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5"/>
          <p:cNvSpPr txBox="1"/>
          <p:nvPr/>
        </p:nvSpPr>
        <p:spPr>
          <a:xfrm>
            <a:off x="502919" y="1425193"/>
            <a:ext cx="37490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61" name="Text 6"/>
          <p:cNvSpPr txBox="1"/>
          <p:nvPr/>
        </p:nvSpPr>
        <p:spPr>
          <a:xfrm>
            <a:off x="594359" y="2249477"/>
            <a:ext cx="3566161" cy="18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Red-light violations cause thousands of accidents annually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Manual officer monitoring is slow, costly and error-prone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Existing CCTV cameras cannot detect or log violations automatically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No automated plate capture means no evidence trail for enforcement</a:t>
            </a:r>
          </a:p>
        </p:txBody>
      </p:sp>
      <p:sp>
        <p:nvSpPr>
          <p:cNvPr id="62" name="Shape 7"/>
          <p:cNvSpPr/>
          <p:nvPr/>
        </p:nvSpPr>
        <p:spPr>
          <a:xfrm>
            <a:off x="4617720" y="1325879"/>
            <a:ext cx="4114801" cy="329184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Shape 8"/>
          <p:cNvSpPr/>
          <p:nvPr/>
        </p:nvSpPr>
        <p:spPr>
          <a:xfrm>
            <a:off x="4617720" y="1325880"/>
            <a:ext cx="4114801" cy="347473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9"/>
          <p:cNvSpPr txBox="1"/>
          <p:nvPr/>
        </p:nvSpPr>
        <p:spPr>
          <a:xfrm>
            <a:off x="4709159" y="1425193"/>
            <a:ext cx="3840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65" name="Text 10"/>
          <p:cNvSpPr txBox="1"/>
          <p:nvPr/>
        </p:nvSpPr>
        <p:spPr>
          <a:xfrm>
            <a:off x="4800600" y="2344727"/>
            <a:ext cx="3749040" cy="1619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YOLOv8s detects vehicles and traffic lights in real time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Custom plate detector model localises license plates precisely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EasyOCR extracts plate text from cropped detections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C9D8E8"/>
                </a:solidFill>
              </a:defRPr>
            </a:pPr>
            <a:r>
              <a:t>User-drawn stop line flags any vehicle crossing it on 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411480" y="387350"/>
            <a:ext cx="8229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1000">
                <a:solidFill>
                  <a:srgbClr val="5A7A9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02  /  SYSTEM ARCHITECTURE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11480" y="586739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How It All Works Together</a:t>
            </a:r>
          </a:p>
        </p:txBody>
      </p:sp>
      <p:sp>
        <p:nvSpPr>
          <p:cNvPr id="70" name="Shape 3"/>
          <p:cNvSpPr/>
          <p:nvPr/>
        </p:nvSpPr>
        <p:spPr>
          <a:xfrm>
            <a:off x="411479" y="1554480"/>
            <a:ext cx="1463042" cy="1920240"/>
          </a:xfrm>
          <a:prstGeom prst="rect">
            <a:avLst/>
          </a:prstGeom>
          <a:solidFill>
            <a:srgbClr val="111820"/>
          </a:solidFill>
          <a:ln w="25400">
            <a:solidFill>
              <a:srgbClr val="0099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4"/>
          <p:cNvSpPr/>
          <p:nvPr/>
        </p:nvSpPr>
        <p:spPr>
          <a:xfrm>
            <a:off x="411479" y="1554480"/>
            <a:ext cx="1463042" cy="54865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5"/>
          <p:cNvSpPr txBox="1"/>
          <p:nvPr/>
        </p:nvSpPr>
        <p:spPr>
          <a:xfrm>
            <a:off x="475487" y="1697227"/>
            <a:ext cx="3657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099C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3" name="Text 6"/>
          <p:cNvSpPr txBox="1"/>
          <p:nvPr/>
        </p:nvSpPr>
        <p:spPr>
          <a:xfrm>
            <a:off x="484631" y="2081022"/>
            <a:ext cx="13258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VIDEO INPUT</a:t>
            </a:r>
          </a:p>
        </p:txBody>
      </p:sp>
      <p:sp>
        <p:nvSpPr>
          <p:cNvPr id="74" name="Text 7"/>
          <p:cNvSpPr txBox="1"/>
          <p:nvPr/>
        </p:nvSpPr>
        <p:spPr>
          <a:xfrm>
            <a:off x="484631" y="2642152"/>
            <a:ext cx="1325882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5A7A96"/>
                </a:solidFill>
              </a:defRPr>
            </a:pPr>
            <a:r>
              <a:t>Upload .mp4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or Live Camera (DroidCam)</a:t>
            </a:r>
          </a:p>
        </p:txBody>
      </p:sp>
      <p:sp>
        <p:nvSpPr>
          <p:cNvPr id="75" name="Shape 8"/>
          <p:cNvSpPr/>
          <p:nvPr/>
        </p:nvSpPr>
        <p:spPr>
          <a:xfrm>
            <a:off x="1901951" y="2514600"/>
            <a:ext cx="201169" cy="0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9"/>
          <p:cNvSpPr/>
          <p:nvPr/>
        </p:nvSpPr>
        <p:spPr>
          <a:xfrm>
            <a:off x="2066544" y="2450592"/>
            <a:ext cx="1" cy="128016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10"/>
          <p:cNvSpPr/>
          <p:nvPr/>
        </p:nvSpPr>
        <p:spPr>
          <a:xfrm>
            <a:off x="2130551" y="1554480"/>
            <a:ext cx="1463041" cy="1920240"/>
          </a:xfrm>
          <a:prstGeom prst="rect">
            <a:avLst/>
          </a:prstGeom>
          <a:solidFill>
            <a:srgbClr val="111820"/>
          </a:solidFill>
          <a:ln w="254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11"/>
          <p:cNvSpPr/>
          <p:nvPr/>
        </p:nvSpPr>
        <p:spPr>
          <a:xfrm>
            <a:off x="2130551" y="1554480"/>
            <a:ext cx="1463041" cy="54865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2"/>
          <p:cNvSpPr txBox="1"/>
          <p:nvPr/>
        </p:nvSpPr>
        <p:spPr>
          <a:xfrm>
            <a:off x="2194560" y="1697227"/>
            <a:ext cx="3657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80" name="Text 13"/>
          <p:cNvSpPr txBox="1"/>
          <p:nvPr/>
        </p:nvSpPr>
        <p:spPr>
          <a:xfrm>
            <a:off x="2203704" y="2081022"/>
            <a:ext cx="13258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YOLOV8s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2203704" y="2642152"/>
            <a:ext cx="132588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5A7A96"/>
                </a:solidFill>
              </a:defRPr>
            </a:pPr>
            <a:r>
              <a:t>Vehicle &amp; traffic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light detection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(track, persist)</a:t>
            </a:r>
          </a:p>
        </p:txBody>
      </p:sp>
      <p:sp>
        <p:nvSpPr>
          <p:cNvPr id="82" name="Shape 15"/>
          <p:cNvSpPr/>
          <p:nvPr/>
        </p:nvSpPr>
        <p:spPr>
          <a:xfrm>
            <a:off x="3621023" y="2514600"/>
            <a:ext cx="201169" cy="0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6"/>
          <p:cNvSpPr/>
          <p:nvPr/>
        </p:nvSpPr>
        <p:spPr>
          <a:xfrm>
            <a:off x="3785615" y="2450592"/>
            <a:ext cx="1" cy="128016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17"/>
          <p:cNvSpPr/>
          <p:nvPr/>
        </p:nvSpPr>
        <p:spPr>
          <a:xfrm>
            <a:off x="3849623" y="1554480"/>
            <a:ext cx="1463041" cy="1920240"/>
          </a:xfrm>
          <a:prstGeom prst="rect">
            <a:avLst/>
          </a:prstGeom>
          <a:solidFill>
            <a:srgbClr val="111820"/>
          </a:solidFill>
          <a:ln w="25400">
            <a:solidFill>
              <a:srgbClr val="FFAA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Shape 18"/>
          <p:cNvSpPr/>
          <p:nvPr/>
        </p:nvSpPr>
        <p:spPr>
          <a:xfrm>
            <a:off x="3849623" y="1554480"/>
            <a:ext cx="1463041" cy="54865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9"/>
          <p:cNvSpPr txBox="1"/>
          <p:nvPr/>
        </p:nvSpPr>
        <p:spPr>
          <a:xfrm>
            <a:off x="3913632" y="1697227"/>
            <a:ext cx="3657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AA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7" name="Text 20"/>
          <p:cNvSpPr txBox="1"/>
          <p:nvPr/>
        </p:nvSpPr>
        <p:spPr>
          <a:xfrm>
            <a:off x="3922776" y="1985772"/>
            <a:ext cx="1325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PLATE DETECTOR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3922776" y="2642152"/>
            <a:ext cx="132588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5A7A96"/>
                </a:solidFill>
              </a:defRPr>
            </a:pPr>
            <a:r>
              <a:t>plate_detector.pt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custom model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/>
            </a:r>
          </a:p>
        </p:txBody>
      </p:sp>
      <p:sp>
        <p:nvSpPr>
          <p:cNvPr id="89" name="Shape 22"/>
          <p:cNvSpPr/>
          <p:nvPr/>
        </p:nvSpPr>
        <p:spPr>
          <a:xfrm>
            <a:off x="5340096" y="2514600"/>
            <a:ext cx="201169" cy="0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23"/>
          <p:cNvSpPr/>
          <p:nvPr/>
        </p:nvSpPr>
        <p:spPr>
          <a:xfrm>
            <a:off x="5504687" y="2450592"/>
            <a:ext cx="1" cy="128016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24"/>
          <p:cNvSpPr/>
          <p:nvPr/>
        </p:nvSpPr>
        <p:spPr>
          <a:xfrm>
            <a:off x="5568696" y="1554480"/>
            <a:ext cx="1463041" cy="1920240"/>
          </a:xfrm>
          <a:prstGeom prst="rect">
            <a:avLst/>
          </a:prstGeom>
          <a:solidFill>
            <a:srgbClr val="111820"/>
          </a:solidFill>
          <a:ln w="25400">
            <a:solidFill>
              <a:srgbClr val="00E67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hape 25"/>
          <p:cNvSpPr/>
          <p:nvPr/>
        </p:nvSpPr>
        <p:spPr>
          <a:xfrm>
            <a:off x="5568696" y="1554480"/>
            <a:ext cx="1463041" cy="54865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26"/>
          <p:cNvSpPr txBox="1"/>
          <p:nvPr/>
        </p:nvSpPr>
        <p:spPr>
          <a:xfrm>
            <a:off x="5632703" y="1697227"/>
            <a:ext cx="3657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0E67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94" name="Text 27"/>
          <p:cNvSpPr txBox="1"/>
          <p:nvPr/>
        </p:nvSpPr>
        <p:spPr>
          <a:xfrm>
            <a:off x="5641847" y="2081022"/>
            <a:ext cx="13258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EASYOCR</a:t>
            </a:r>
          </a:p>
        </p:txBody>
      </p:sp>
      <p:sp>
        <p:nvSpPr>
          <p:cNvPr id="95" name="Text 28"/>
          <p:cNvSpPr txBox="1"/>
          <p:nvPr/>
        </p:nvSpPr>
        <p:spPr>
          <a:xfrm>
            <a:off x="5641847" y="2642152"/>
            <a:ext cx="132588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5A7A96"/>
                </a:solidFill>
              </a:defRPr>
            </a:pPr>
            <a:r>
              <a:t>Text extraction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2× upscale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min 4 chars filter</a:t>
            </a:r>
          </a:p>
        </p:txBody>
      </p:sp>
      <p:sp>
        <p:nvSpPr>
          <p:cNvPr id="96" name="Shape 29"/>
          <p:cNvSpPr/>
          <p:nvPr/>
        </p:nvSpPr>
        <p:spPr>
          <a:xfrm>
            <a:off x="7059168" y="2514600"/>
            <a:ext cx="201169" cy="0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30"/>
          <p:cNvSpPr/>
          <p:nvPr/>
        </p:nvSpPr>
        <p:spPr>
          <a:xfrm>
            <a:off x="7223760" y="2450592"/>
            <a:ext cx="1" cy="128016"/>
          </a:xfrm>
          <a:prstGeom prst="line">
            <a:avLst/>
          </a:prstGeom>
          <a:ln w="19050">
            <a:solidFill>
              <a:srgbClr val="5A7A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31"/>
          <p:cNvSpPr/>
          <p:nvPr/>
        </p:nvSpPr>
        <p:spPr>
          <a:xfrm>
            <a:off x="7287768" y="1554480"/>
            <a:ext cx="1463041" cy="1920240"/>
          </a:xfrm>
          <a:prstGeom prst="rect">
            <a:avLst/>
          </a:prstGeom>
          <a:solidFill>
            <a:srgbClr val="111820"/>
          </a:solidFill>
          <a:ln w="25400">
            <a:solidFill>
              <a:srgbClr val="FF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Shape 32"/>
          <p:cNvSpPr/>
          <p:nvPr/>
        </p:nvSpPr>
        <p:spPr>
          <a:xfrm>
            <a:off x="7287768" y="1554480"/>
            <a:ext cx="1463041" cy="54865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33"/>
          <p:cNvSpPr txBox="1"/>
          <p:nvPr/>
        </p:nvSpPr>
        <p:spPr>
          <a:xfrm>
            <a:off x="7351776" y="1697227"/>
            <a:ext cx="3657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2D2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1" name="Text 34"/>
          <p:cNvSpPr txBox="1"/>
          <p:nvPr/>
        </p:nvSpPr>
        <p:spPr>
          <a:xfrm>
            <a:off x="7360919" y="1985772"/>
            <a:ext cx="1325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00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VIOLATION LOG</a:t>
            </a:r>
          </a:p>
        </p:txBody>
      </p:sp>
      <p:sp>
        <p:nvSpPr>
          <p:cNvPr id="102" name="Text 35"/>
          <p:cNvSpPr txBox="1"/>
          <p:nvPr/>
        </p:nvSpPr>
        <p:spPr>
          <a:xfrm>
            <a:off x="7360919" y="2642152"/>
            <a:ext cx="132588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5A7A96"/>
                </a:solidFill>
              </a:defRPr>
            </a:pPr>
            <a:r>
              <a:t>Stop-line cross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on RED light</a:t>
            </a:r>
          </a:p>
          <a:p>
            <a:pPr>
              <a:defRPr sz="1000">
                <a:solidFill>
                  <a:srgbClr val="5A7A96"/>
                </a:solidFill>
              </a:defRPr>
            </a:pPr>
            <a:r>
              <a:t>CSV + snapshot</a:t>
            </a:r>
          </a:p>
        </p:txBody>
      </p:sp>
      <p:sp>
        <p:nvSpPr>
          <p:cNvPr id="103" name="Text 36"/>
          <p:cNvSpPr txBox="1"/>
          <p:nvPr/>
        </p:nvSpPr>
        <p:spPr>
          <a:xfrm>
            <a:off x="411479" y="4590795"/>
            <a:ext cx="8321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A7A9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Backend: FastAPI + WebSocket  ·  OpenCV for frame processing  ·  Served via Uvicorn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"/>
          <p:cNvSpPr txBox="1"/>
          <p:nvPr/>
        </p:nvSpPr>
        <p:spPr>
          <a:xfrm>
            <a:off x="411480" y="387350"/>
            <a:ext cx="8229601" cy="139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pc="200" sz="1000">
                <a:solidFill>
                  <a:srgbClr val="5A7A96"/>
                </a:solidFill>
                <a:latin typeface="Courier New"/>
              </a:defRPr>
            </a:lvl1pPr>
          </a:lstStyle>
          <a:p>
            <a:pPr/>
            <a:r>
              <a:t>03  /  KEY COMPONENTS</a:t>
            </a:r>
          </a:p>
        </p:txBody>
      </p:sp>
      <p:sp>
        <p:nvSpPr>
          <p:cNvPr id="202" name="Text 2"/>
          <p:cNvSpPr txBox="1"/>
          <p:nvPr/>
        </p:nvSpPr>
        <p:spPr>
          <a:xfrm>
            <a:off x="411480" y="586739"/>
            <a:ext cx="8229601" cy="609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</a:defRPr>
            </a:lvl1pPr>
          </a:lstStyle>
          <a:p>
            <a:pPr/>
            <a:r>
              <a:t>How the Detection Works</a:t>
            </a:r>
          </a:p>
        </p:txBody>
      </p:sp>
      <p:sp>
        <p:nvSpPr>
          <p:cNvPr id="210" name="Card1Bg"/>
          <p:cNvSpPr/>
          <p:nvPr/>
        </p:nvSpPr>
        <p:spPr>
          <a:xfrm>
            <a:off x="411480" y="1370000"/>
            <a:ext cx="2724480" cy="1600000"/>
          </a:xfrm>
          <a:prstGeom prst="rect">
            <a:avLst/>
          </a:prstGeom>
          <a:solidFill>
            <a:srgbClr val="0D1117"/>
          </a:solidFill>
          <a:ln w="25400">
            <a:solidFill>
              <a:srgbClr val="00D4FF"/>
            </a:solidFill>
          </a:ln>
        </p:spPr>
        <p:txBody>
          <a:bodyPr/>
          <a:lstStyle/>
          <a:p>
            <a:pPr/>
          </a:p>
        </p:txBody>
      </p:sp>
      <p:sp>
        <p:nvSpPr>
          <p:cNvPr id="211" name="Card1Title"/>
          <p:cNvSpPr txBox="1"/>
          <p:nvPr/>
        </p:nvSpPr>
        <p:spPr>
          <a:xfrm>
            <a:off x="503000" y="1420000"/>
            <a:ext cx="2500000" cy="32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0D4FF"/>
                </a:solidFill>
                <a:latin typeface="Arial Black"/>
              </a:defRPr>
            </a:lvl1pPr>
          </a:lstStyle>
          <a:p>
            <a:pPr/>
            <a:r>
              <a:t>YOLOv8s</a:t>
            </a:r>
          </a:p>
        </p:txBody>
      </p:sp>
      <p:sp>
        <p:nvSpPr>
          <p:cNvPr id="212" name="Card1Desc"/>
          <p:cNvSpPr txBox="1"/>
          <p:nvPr/>
        </p:nvSpPr>
        <p:spPr>
          <a:xfrm>
            <a:off x="503000" y="1760000"/>
            <a:ext cx="2540000" cy="11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spAutoFit/>
          </a:bodyPr>
          <a:lstStyle>
            <a:lvl1pPr>
              <a:defRPr sz="1100">
                <a:solidFill>
                  <a:srgbClr val="C9D8E8"/>
                </a:solidFill>
              </a:defRPr>
            </a:lvl1pPr>
          </a:lstStyle>
          <a:p>
            <a:pPr/>
            <a:r>
              <a:t>Detects vehicles and traffic lights per frame using object tracking (persist mode) for stable IDs</a:t>
            </a:r>
          </a:p>
        </p:txBody>
      </p:sp>
      <p:sp>
        <p:nvSpPr>
          <p:cNvPr id="220" name="Card2Bg"/>
          <p:cNvSpPr/>
          <p:nvPr/>
        </p:nvSpPr>
        <p:spPr>
          <a:xfrm>
            <a:off x="3309720" y="1370000"/>
            <a:ext cx="2724480" cy="1600000"/>
          </a:xfrm>
          <a:prstGeom prst="rect">
            <a:avLst/>
          </a:prstGeom>
          <a:solidFill>
            <a:srgbClr val="0D1117"/>
          </a:solidFill>
          <a:ln w="25400">
            <a:solidFill>
              <a:srgbClr val="00E676"/>
            </a:solidFill>
          </a:ln>
        </p:spPr>
        <p:txBody>
          <a:bodyPr/>
          <a:lstStyle/>
          <a:p>
            <a:pPr/>
          </a:p>
        </p:txBody>
      </p:sp>
      <p:sp>
        <p:nvSpPr>
          <p:cNvPr id="221" name="Card2Title"/>
          <p:cNvSpPr txBox="1"/>
          <p:nvPr/>
        </p:nvSpPr>
        <p:spPr>
          <a:xfrm>
            <a:off x="3400000" y="1420000"/>
            <a:ext cx="2500000" cy="32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0E676"/>
                </a:solidFill>
                <a:latin typeface="Arial Black"/>
              </a:defRPr>
            </a:lvl1pPr>
          </a:lstStyle>
          <a:p>
            <a:pPr/>
            <a:r>
              <a:t>Plate Detector</a:t>
            </a:r>
          </a:p>
        </p:txBody>
      </p:sp>
      <p:sp>
        <p:nvSpPr>
          <p:cNvPr id="222" name="Card2Desc"/>
          <p:cNvSpPr txBox="1"/>
          <p:nvPr/>
        </p:nvSpPr>
        <p:spPr>
          <a:xfrm>
            <a:off x="3400000" y="1760000"/>
            <a:ext cx="2540000" cy="11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spAutoFit/>
          </a:bodyPr>
          <a:lstStyle>
            <a:lvl1pPr>
              <a:defRPr sz="1100">
                <a:solidFill>
                  <a:srgbClr val="C9D8E8"/>
                </a:solidFill>
              </a:defRPr>
            </a:lvl1pPr>
          </a:lstStyle>
          <a:p>
            <a:pPr/>
            <a:r>
              <a:t>Custom model (plate_detector.pt) localises license plates inside each detected vehicle crop</a:t>
            </a:r>
          </a:p>
        </p:txBody>
      </p:sp>
      <p:sp>
        <p:nvSpPr>
          <p:cNvPr id="230" name="Card3Bg"/>
          <p:cNvSpPr/>
          <p:nvPr/>
        </p:nvSpPr>
        <p:spPr>
          <a:xfrm>
            <a:off x="6207960" y="1370000"/>
            <a:ext cx="2724480" cy="1600000"/>
          </a:xfrm>
          <a:prstGeom prst="rect">
            <a:avLst/>
          </a:prstGeom>
          <a:solidFill>
            <a:srgbClr val="0D1117"/>
          </a:solidFill>
          <a:ln w="25400">
            <a:solidFill>
              <a:srgbClr val="FFAA00"/>
            </a:solidFill>
          </a:ln>
        </p:spPr>
        <p:txBody>
          <a:bodyPr/>
          <a:lstStyle/>
          <a:p>
            <a:pPr/>
          </a:p>
        </p:txBody>
      </p:sp>
      <p:sp>
        <p:nvSpPr>
          <p:cNvPr id="231" name="Card3Title"/>
          <p:cNvSpPr txBox="1"/>
          <p:nvPr/>
        </p:nvSpPr>
        <p:spPr>
          <a:xfrm>
            <a:off x="6298000" y="1420000"/>
            <a:ext cx="2500000" cy="32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FFAA00"/>
                </a:solidFill>
                <a:latin typeface="Arial Black"/>
              </a:defRPr>
            </a:lvl1pPr>
          </a:lstStyle>
          <a:p>
            <a:pPr/>
            <a:r>
              <a:t>EasyOCR</a:t>
            </a:r>
          </a:p>
        </p:txBody>
      </p:sp>
      <p:sp>
        <p:nvSpPr>
          <p:cNvPr id="232" name="Card3Desc"/>
          <p:cNvSpPr txBox="1"/>
          <p:nvPr/>
        </p:nvSpPr>
        <p:spPr>
          <a:xfrm>
            <a:off x="6298000" y="1760000"/>
            <a:ext cx="2540000" cy="11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spAutoFit/>
          </a:bodyPr>
          <a:lstStyle>
            <a:lvl1pPr>
              <a:defRPr sz="1100">
                <a:solidFill>
                  <a:srgbClr val="C9D8E8"/>
                </a:solidFill>
              </a:defRPr>
            </a:lvl1pPr>
          </a:lstStyle>
          <a:p>
            <a:pPr/>
            <a:r>
              <a:t>Reads plate text from 2x upscaled crops. Min 4-char filter removes noise and false reads</a:t>
            </a:r>
          </a:p>
        </p:txBody>
      </p:sp>
      <p:sp>
        <p:nvSpPr>
          <p:cNvPr id="240" name="Card4Bg"/>
          <p:cNvSpPr/>
          <p:nvPr/>
        </p:nvSpPr>
        <p:spPr>
          <a:xfrm>
            <a:off x="1860480" y="3130000"/>
            <a:ext cx="2724480" cy="1600000"/>
          </a:xfrm>
          <a:prstGeom prst="rect">
            <a:avLst/>
          </a:prstGeom>
          <a:solidFill>
            <a:srgbClr val="0D1117"/>
          </a:solidFill>
          <a:ln w="25400">
            <a:solidFill>
              <a:srgbClr val="FF2D2D"/>
            </a:solidFill>
          </a:ln>
        </p:spPr>
        <p:txBody>
          <a:bodyPr/>
          <a:lstStyle/>
          <a:p>
            <a:pPr/>
          </a:p>
        </p:txBody>
      </p:sp>
      <p:sp>
        <p:nvSpPr>
          <p:cNvPr id="241" name="Card4Title"/>
          <p:cNvSpPr txBox="1"/>
          <p:nvPr/>
        </p:nvSpPr>
        <p:spPr>
          <a:xfrm>
            <a:off x="1950000" y="3180000"/>
            <a:ext cx="2500000" cy="32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FF2D2D"/>
                </a:solidFill>
                <a:latin typeface="Arial Black"/>
              </a:defRPr>
            </a:lvl1pPr>
          </a:lstStyle>
          <a:p>
            <a:pPr/>
            <a:r>
              <a:t>Stop-Line Logic</a:t>
            </a:r>
          </a:p>
        </p:txBody>
      </p:sp>
      <p:sp>
        <p:nvSpPr>
          <p:cNvPr id="242" name="Card4Desc"/>
          <p:cNvSpPr txBox="1"/>
          <p:nvPr/>
        </p:nvSpPr>
        <p:spPr>
          <a:xfrm>
            <a:off x="1950000" y="3520000"/>
            <a:ext cx="2540000" cy="11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spAutoFit/>
          </a:bodyPr>
          <a:lstStyle>
            <a:lvl1pPr>
              <a:defRPr sz="1100">
                <a:solidFill>
                  <a:srgbClr val="C9D8E8"/>
                </a:solidFill>
              </a:defRPr>
            </a:lvl1pPr>
          </a:lstStyle>
          <a:p>
            <a:pPr/>
            <a:r>
              <a:t>User draws a line on the frame. Any vehicle bounding box edge that crosses it on RED triggers a violation</a:t>
            </a:r>
          </a:p>
        </p:txBody>
      </p:sp>
      <p:sp>
        <p:nvSpPr>
          <p:cNvPr id="250" name="Card5Bg"/>
          <p:cNvSpPr/>
          <p:nvPr/>
        </p:nvSpPr>
        <p:spPr>
          <a:xfrm>
            <a:off x="4758720" y="3130000"/>
            <a:ext cx="2724480" cy="1600000"/>
          </a:xfrm>
          <a:prstGeom prst="rect">
            <a:avLst/>
          </a:prstGeom>
          <a:solidFill>
            <a:srgbClr val="0D1117"/>
          </a:solidFill>
          <a:ln w="25400">
            <a:solidFill>
              <a:srgbClr val="00D4FF"/>
            </a:solidFill>
          </a:ln>
        </p:spPr>
        <p:txBody>
          <a:bodyPr/>
          <a:lstStyle/>
          <a:p>
            <a:pPr/>
          </a:p>
        </p:txBody>
      </p:sp>
      <p:sp>
        <p:nvSpPr>
          <p:cNvPr id="251" name="Card5Title"/>
          <p:cNvSpPr txBox="1"/>
          <p:nvPr/>
        </p:nvSpPr>
        <p:spPr>
          <a:xfrm>
            <a:off x="4848000" y="3180000"/>
            <a:ext cx="2500000" cy="32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0D4FF"/>
                </a:solidFill>
                <a:latin typeface="Arial Black"/>
              </a:defRPr>
            </a:lvl1pPr>
          </a:lstStyle>
          <a:p>
            <a:pPr/>
            <a:r>
              <a:t>Light Detection</a:t>
            </a:r>
          </a:p>
        </p:txBody>
      </p:sp>
      <p:sp>
        <p:nvSpPr>
          <p:cNvPr id="252" name="Card5Desc"/>
          <p:cNvSpPr txBox="1"/>
          <p:nvPr/>
        </p:nvSpPr>
        <p:spPr>
          <a:xfrm>
            <a:off x="4848000" y="3520000"/>
            <a:ext cx="2540000" cy="11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spAutoFit/>
          </a:bodyPr>
          <a:lstStyle>
            <a:lvl1pPr>
              <a:defRPr sz="1100">
                <a:solidFill>
                  <a:srgbClr val="C9D8E8"/>
                </a:solidFill>
              </a:defRPr>
            </a:lvl1pPr>
          </a:lstStyle>
          <a:p>
            <a:pPr/>
            <a:r>
              <a:t>HSV colour analysis on traffic light crops with temporal smoothing to reduce false colour reads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"/>
          <p:cNvSpPr txBox="1"/>
          <p:nvPr/>
        </p:nvSpPr>
        <p:spPr>
          <a:xfrm>
            <a:off x="411480" y="387350"/>
            <a:ext cx="8229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1000">
                <a:solidFill>
                  <a:srgbClr val="5A7A9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04  /  LIVE DEMO — USER FLOW</a:t>
            </a:r>
          </a:p>
        </p:txBody>
      </p:sp>
      <p:sp>
        <p:nvSpPr>
          <p:cNvPr id="131" name="Text 2"/>
          <p:cNvSpPr txBox="1"/>
          <p:nvPr/>
        </p:nvSpPr>
        <p:spPr>
          <a:xfrm>
            <a:off x="411480" y="586739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Two Modes of Operation</a:t>
            </a:r>
          </a:p>
        </p:txBody>
      </p:sp>
      <p:sp>
        <p:nvSpPr>
          <p:cNvPr id="132" name="Shape 3"/>
          <p:cNvSpPr/>
          <p:nvPr/>
        </p:nvSpPr>
        <p:spPr>
          <a:xfrm>
            <a:off x="411479" y="1325880"/>
            <a:ext cx="3931922" cy="3383280"/>
          </a:xfrm>
          <a:prstGeom prst="rect">
            <a:avLst/>
          </a:prstGeom>
          <a:solidFill>
            <a:srgbClr val="0D1117"/>
          </a:solidFill>
          <a:ln w="254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4"/>
          <p:cNvSpPr/>
          <p:nvPr/>
        </p:nvSpPr>
        <p:spPr>
          <a:xfrm>
            <a:off x="411479" y="1325880"/>
            <a:ext cx="3931922" cy="384049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5"/>
          <p:cNvSpPr txBox="1"/>
          <p:nvPr/>
        </p:nvSpPr>
        <p:spPr>
          <a:xfrm>
            <a:off x="502919" y="1443481"/>
            <a:ext cx="37490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MODE A — VIDEO UPLOAD</a:t>
            </a:r>
          </a:p>
        </p:txBody>
      </p:sp>
      <p:sp>
        <p:nvSpPr>
          <p:cNvPr id="135" name="Text 6"/>
          <p:cNvSpPr txBox="1"/>
          <p:nvPr/>
        </p:nvSpPr>
        <p:spPr>
          <a:xfrm>
            <a:off x="594359" y="2401746"/>
            <a:ext cx="3566161" cy="1597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① Upload .mp4 video — first frame loads as preview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② Draw stop line by clicking and dragging on the frame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③ Enable Virtual Traffic Light (VTL) if needed, then START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④ Violations flagged live — plates read and logged per frame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⑤ Download output video and CSV when analysis completes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/>
            </a:r>
          </a:p>
          <a:p>
            <a:pPr>
              <a:defRPr sz="1100">
                <a:solidFill>
                  <a:srgbClr val="C9D8E8"/>
                </a:solidFill>
              </a:defRPr>
            </a:pPr>
            <a:r>
              <a:t/>
            </a:r>
          </a:p>
        </p:txBody>
      </p:sp>
      <p:sp>
        <p:nvSpPr>
          <p:cNvPr id="136" name="Shape 7"/>
          <p:cNvSpPr/>
          <p:nvPr/>
        </p:nvSpPr>
        <p:spPr>
          <a:xfrm>
            <a:off x="4617720" y="1325880"/>
            <a:ext cx="4114801" cy="3383280"/>
          </a:xfrm>
          <a:prstGeom prst="rect">
            <a:avLst/>
          </a:prstGeom>
          <a:solidFill>
            <a:srgbClr val="0D1117"/>
          </a:solidFill>
          <a:ln w="25400">
            <a:solidFill>
              <a:srgbClr val="00E67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8"/>
          <p:cNvSpPr/>
          <p:nvPr/>
        </p:nvSpPr>
        <p:spPr>
          <a:xfrm>
            <a:off x="4617720" y="1325880"/>
            <a:ext cx="4114801" cy="384049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9"/>
          <p:cNvSpPr txBox="1"/>
          <p:nvPr/>
        </p:nvSpPr>
        <p:spPr>
          <a:xfrm>
            <a:off x="4709159" y="1443481"/>
            <a:ext cx="3840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00E67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MODE B — LIVE CAMERA</a:t>
            </a:r>
          </a:p>
        </p:txBody>
      </p:sp>
      <p:sp>
        <p:nvSpPr>
          <p:cNvPr id="139" name="Text 10"/>
          <p:cNvSpPr txBox="1"/>
          <p:nvPr/>
        </p:nvSpPr>
        <p:spPr>
          <a:xfrm>
            <a:off x="4800600" y="2401746"/>
            <a:ext cx="3749040" cy="1597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① Enter camera IP address and click CONNECT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② Draw the stop line on the live preview frame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③ Press START — live detection begins immediately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④ Violations detected in real time; ABORT to stop early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>⑤ Download violations CSV at any point during or after</a:t>
            </a:r>
          </a:p>
          <a:p>
            <a:pPr>
              <a:spcBef>
                <a:spcPts val="500"/>
              </a:spcBef>
              <a:defRPr sz="1100">
                <a:solidFill>
                  <a:srgbClr val="C9D8E8"/>
                </a:solidFill>
              </a:defRPr>
            </a:pPr>
            <a:r>
              <a:t/>
            </a:r>
          </a:p>
          <a:p>
            <a:pPr>
              <a:defRPr sz="1100">
                <a:solidFill>
                  <a:srgbClr val="C9D8E8"/>
                </a:solidFill>
              </a:defRPr>
            </a:pPr>
            <a:r>
              <a:t/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"/>
          <p:cNvSpPr txBox="1"/>
          <p:nvPr/>
        </p:nvSpPr>
        <p:spPr>
          <a:xfrm>
            <a:off x="411480" y="238252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900">
                <a:solidFill>
                  <a:srgbClr val="5A7A9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05  /  SYSTEM IN ACTION</a:t>
            </a:r>
          </a:p>
        </p:txBody>
      </p:sp>
      <p:sp>
        <p:nvSpPr>
          <p:cNvPr id="143" name="Text 2"/>
          <p:cNvSpPr txBox="1"/>
          <p:nvPr/>
        </p:nvSpPr>
        <p:spPr>
          <a:xfrm>
            <a:off x="411480" y="405130"/>
            <a:ext cx="5486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Live Detection Dashboard</a:t>
            </a:r>
          </a:p>
        </p:txBody>
      </p:sp>
      <p:pic>
        <p:nvPicPr>
          <p:cNvPr id="1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480" y="960119"/>
            <a:ext cx="5943601" cy="3246122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hape 3"/>
          <p:cNvSpPr/>
          <p:nvPr/>
        </p:nvSpPr>
        <p:spPr>
          <a:xfrm>
            <a:off x="6537959" y="1188719"/>
            <a:ext cx="2377441" cy="640081"/>
          </a:xfrm>
          <a:prstGeom prst="rect">
            <a:avLst/>
          </a:prstGeom>
          <a:solidFill>
            <a:srgbClr val="111820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4"/>
          <p:cNvSpPr/>
          <p:nvPr/>
        </p:nvSpPr>
        <p:spPr>
          <a:xfrm>
            <a:off x="6373367" y="1508760"/>
            <a:ext cx="164593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5"/>
          <p:cNvSpPr txBox="1"/>
          <p:nvPr/>
        </p:nvSpPr>
        <p:spPr>
          <a:xfrm>
            <a:off x="6629400" y="1357674"/>
            <a:ext cx="2194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C9D8E8"/>
                </a:solidFill>
              </a:defRPr>
            </a:pPr>
            <a:r>
              <a:t>Stop Line drawn</a:t>
            </a:r>
          </a:p>
          <a:p>
            <a:pPr>
              <a:defRPr sz="1000">
                <a:solidFill>
                  <a:srgbClr val="C9D8E8"/>
                </a:solidFill>
              </a:defRPr>
            </a:pPr>
            <a:r>
              <a:t>by user</a:t>
            </a:r>
          </a:p>
        </p:txBody>
      </p:sp>
      <p:sp>
        <p:nvSpPr>
          <p:cNvPr id="148" name="Shape 6"/>
          <p:cNvSpPr/>
          <p:nvPr/>
        </p:nvSpPr>
        <p:spPr>
          <a:xfrm>
            <a:off x="6537959" y="2011679"/>
            <a:ext cx="2377441" cy="640081"/>
          </a:xfrm>
          <a:prstGeom prst="rect">
            <a:avLst/>
          </a:prstGeom>
          <a:solidFill>
            <a:srgbClr val="111820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7"/>
          <p:cNvSpPr/>
          <p:nvPr/>
        </p:nvSpPr>
        <p:spPr>
          <a:xfrm>
            <a:off x="6373367" y="2331720"/>
            <a:ext cx="164593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8"/>
          <p:cNvSpPr txBox="1"/>
          <p:nvPr/>
        </p:nvSpPr>
        <p:spPr>
          <a:xfrm>
            <a:off x="6629400" y="2180634"/>
            <a:ext cx="2194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C9D8E8"/>
                </a:solidFill>
              </a:defRPr>
            </a:pPr>
            <a:r>
              <a:t>Live traffic light</a:t>
            </a:r>
          </a:p>
          <a:p>
            <a:pPr>
              <a:defRPr sz="1000">
                <a:solidFill>
                  <a:srgbClr val="C9D8E8"/>
                </a:solidFill>
              </a:defRPr>
            </a:pPr>
            <a:r>
              <a:t>color detection</a:t>
            </a:r>
          </a:p>
        </p:txBody>
      </p:sp>
      <p:sp>
        <p:nvSpPr>
          <p:cNvPr id="151" name="Shape 9"/>
          <p:cNvSpPr/>
          <p:nvPr/>
        </p:nvSpPr>
        <p:spPr>
          <a:xfrm>
            <a:off x="6537959" y="2834639"/>
            <a:ext cx="2377441" cy="640081"/>
          </a:xfrm>
          <a:prstGeom prst="rect">
            <a:avLst/>
          </a:prstGeom>
          <a:solidFill>
            <a:srgbClr val="111820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10"/>
          <p:cNvSpPr/>
          <p:nvPr/>
        </p:nvSpPr>
        <p:spPr>
          <a:xfrm>
            <a:off x="6373367" y="3154679"/>
            <a:ext cx="164593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1"/>
          <p:cNvSpPr txBox="1"/>
          <p:nvPr/>
        </p:nvSpPr>
        <p:spPr>
          <a:xfrm>
            <a:off x="6629400" y="3003594"/>
            <a:ext cx="2194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C9D8E8"/>
                </a:solidFill>
              </a:defRPr>
            </a:pPr>
            <a:r>
              <a:t>Vehicle bounding</a:t>
            </a:r>
          </a:p>
          <a:p>
            <a:pPr>
              <a:defRPr sz="1000">
                <a:solidFill>
                  <a:srgbClr val="C9D8E8"/>
                </a:solidFill>
              </a:defRPr>
            </a:pPr>
            <a:r>
              <a:t>boxes + labels</a:t>
            </a:r>
          </a:p>
        </p:txBody>
      </p:sp>
      <p:sp>
        <p:nvSpPr>
          <p:cNvPr id="154" name="Shape 12"/>
          <p:cNvSpPr/>
          <p:nvPr/>
        </p:nvSpPr>
        <p:spPr>
          <a:xfrm>
            <a:off x="6537959" y="3657600"/>
            <a:ext cx="2377441" cy="640081"/>
          </a:xfrm>
          <a:prstGeom prst="rect">
            <a:avLst/>
          </a:prstGeom>
          <a:solidFill>
            <a:srgbClr val="111820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hape 13"/>
          <p:cNvSpPr/>
          <p:nvPr/>
        </p:nvSpPr>
        <p:spPr>
          <a:xfrm>
            <a:off x="6373367" y="3977640"/>
            <a:ext cx="164593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14"/>
          <p:cNvSpPr txBox="1"/>
          <p:nvPr/>
        </p:nvSpPr>
        <p:spPr>
          <a:xfrm>
            <a:off x="6629400" y="3826554"/>
            <a:ext cx="2194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C9D8E8"/>
                </a:solidFill>
              </a:defRPr>
            </a:pPr>
            <a:r>
              <a:t>Violations log</a:t>
            </a:r>
          </a:p>
          <a:p>
            <a:pPr>
              <a:defRPr sz="1000">
                <a:solidFill>
                  <a:srgbClr val="C9D8E8"/>
                </a:solidFill>
              </a:defRPr>
            </a:pPr>
            <a:r>
              <a:t>+ plate crops</a:t>
            </a:r>
          </a:p>
        </p:txBody>
      </p:sp>
      <p:sp>
        <p:nvSpPr>
          <p:cNvPr id="157" name="Text 15"/>
          <p:cNvSpPr txBox="1"/>
          <p:nvPr/>
        </p:nvSpPr>
        <p:spPr>
          <a:xfrm>
            <a:off x="411479" y="4590795"/>
            <a:ext cx="8321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A7A9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Red bounding box = VIOLATION  ·  Cyan text = Plate number  ·  Right panel = Live violations log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"/>
          <p:cNvSpPr txBox="1"/>
          <p:nvPr/>
        </p:nvSpPr>
        <p:spPr>
          <a:xfrm>
            <a:off x="411480" y="387350"/>
            <a:ext cx="8229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1000">
                <a:solidFill>
                  <a:srgbClr val="5A7A9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06  /  CONCLUSION</a:t>
            </a:r>
          </a:p>
        </p:txBody>
      </p:sp>
      <p:sp>
        <p:nvSpPr>
          <p:cNvPr id="161" name="Text 2"/>
          <p:cNvSpPr txBox="1"/>
          <p:nvPr/>
        </p:nvSpPr>
        <p:spPr>
          <a:xfrm>
            <a:off x="411480" y="586739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What We Built &amp; What's Next</a:t>
            </a:r>
          </a:p>
        </p:txBody>
      </p:sp>
      <p:sp>
        <p:nvSpPr>
          <p:cNvPr id="162" name="Shape 3"/>
          <p:cNvSpPr/>
          <p:nvPr/>
        </p:nvSpPr>
        <p:spPr>
          <a:xfrm>
            <a:off x="411479" y="1325880"/>
            <a:ext cx="3931922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4"/>
          <p:cNvSpPr/>
          <p:nvPr/>
        </p:nvSpPr>
        <p:spPr>
          <a:xfrm>
            <a:off x="411479" y="1325880"/>
            <a:ext cx="3931922" cy="320041"/>
          </a:xfrm>
          <a:prstGeom prst="rect">
            <a:avLst/>
          </a:prstGeom>
          <a:solidFill>
            <a:srgbClr val="111820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5"/>
          <p:cNvSpPr txBox="1"/>
          <p:nvPr/>
        </p:nvSpPr>
        <p:spPr>
          <a:xfrm>
            <a:off x="502919" y="1417827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900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WHAT WE ACHIEVED</a:t>
            </a:r>
          </a:p>
        </p:txBody>
      </p:sp>
      <p:sp>
        <p:nvSpPr>
          <p:cNvPr id="165" name="Text 6"/>
          <p:cNvSpPr txBox="1"/>
          <p:nvPr/>
        </p:nvSpPr>
        <p:spPr>
          <a:xfrm>
            <a:off x="594360" y="1884094"/>
            <a:ext cx="3520440" cy="2486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Real-time vehicle detection and red-light violation flagging per frame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Automatic license plate reading for every flagged violation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Traffic light colour detection using HSV analysis with temporal smoothing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User-defined stop line via mouse drag — flexible for any camera angle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Dual-mode: pre-recorded video and live IP camera support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Photo evidence captured and CSV log exported for every violation</a:t>
            </a:r>
          </a:p>
        </p:txBody>
      </p:sp>
      <p:sp>
        <p:nvSpPr>
          <p:cNvPr id="166" name="Shape 7"/>
          <p:cNvSpPr/>
          <p:nvPr/>
        </p:nvSpPr>
        <p:spPr>
          <a:xfrm>
            <a:off x="4617720" y="1325880"/>
            <a:ext cx="4114801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Shape 8"/>
          <p:cNvSpPr/>
          <p:nvPr/>
        </p:nvSpPr>
        <p:spPr>
          <a:xfrm>
            <a:off x="4617720" y="1325880"/>
            <a:ext cx="4114801" cy="320041"/>
          </a:xfrm>
          <a:prstGeom prst="rect">
            <a:avLst/>
          </a:prstGeom>
          <a:solidFill>
            <a:srgbClr val="111820"/>
          </a:solidFill>
          <a:ln w="12700">
            <a:solidFill>
              <a:srgbClr val="1E2D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9"/>
          <p:cNvSpPr txBox="1"/>
          <p:nvPr/>
        </p:nvSpPr>
        <p:spPr>
          <a:xfrm>
            <a:off x="4709159" y="1417827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900">
                <a:solidFill>
                  <a:srgbClr val="FFAA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FUTURE IMPROVEMENTS</a:t>
            </a:r>
          </a:p>
        </p:txBody>
      </p:sp>
      <p:sp>
        <p:nvSpPr>
          <p:cNvPr id="169" name="Text 10"/>
          <p:cNvSpPr txBox="1"/>
          <p:nvPr/>
        </p:nvSpPr>
        <p:spPr>
          <a:xfrm>
            <a:off x="4800600" y="2296844"/>
            <a:ext cx="3703319" cy="166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Automatic stop-line detection — no manual drawing required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Cross-camera re-identification to track plates across multiple feeds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Bird’s-eye view projection for accurate position detection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Improved night-time detection with low-light model tuning</a:t>
            </a:r>
          </a:p>
          <a:p>
            <a:pPr marL="342900" indent="-342900">
              <a:spcBef>
                <a:spcPts val="700"/>
              </a:spcBef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Multi-lane polygon zones replacing single stop line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C9D8E8"/>
                </a:solidFill>
              </a:defRPr>
            </a:pPr>
            <a:r>
              <a:t>Speed estimation using inter-frame vehicle displacement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